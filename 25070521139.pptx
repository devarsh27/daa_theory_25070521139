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01 / 24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406640" y="1069848"/>
            <a:ext cx="1399032" cy="57607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665976" y="1645920"/>
            <a:ext cx="740664" cy="1316736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05672" y="1069848"/>
            <a:ext cx="411480" cy="139903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65976" y="2962656"/>
            <a:ext cx="1316736" cy="740664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982712" y="2468880"/>
            <a:ext cx="1234440" cy="1234440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82712" y="3703320"/>
            <a:ext cx="1481328" cy="493776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982712" y="1069848"/>
            <a:ext cx="822960" cy="263347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192670" y="1431950"/>
            <a:ext cx="427939" cy="427939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92670" y="1459382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070D1D"/>
                </a:solidFill>
                <a:latin typeface="Aptos"/>
              </a:rPr>
              <a:t>A</a:t>
            </a:r>
          </a:p>
        </p:txBody>
      </p:sp>
      <p:sp>
        <p:nvSpPr>
          <p:cNvPr id="35" name="Oval 34"/>
          <p:cNvSpPr/>
          <p:nvPr/>
        </p:nvSpPr>
        <p:spPr>
          <a:xfrm>
            <a:off x="8591702" y="855878"/>
            <a:ext cx="427939" cy="427939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91702" y="883310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070D1D"/>
                </a:solidFill>
                <a:latin typeface="Aptos"/>
              </a:rP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9003182" y="2254910"/>
            <a:ext cx="427939" cy="427939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03182" y="2282342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EEF5FF"/>
                </a:solidFill>
                <a:latin typeface="Aptos"/>
              </a:rPr>
              <a:t>C</a:t>
            </a:r>
          </a:p>
        </p:txBody>
      </p:sp>
      <p:sp>
        <p:nvSpPr>
          <p:cNvPr id="39" name="Oval 38"/>
          <p:cNvSpPr/>
          <p:nvPr/>
        </p:nvSpPr>
        <p:spPr>
          <a:xfrm>
            <a:off x="6452006" y="2748686"/>
            <a:ext cx="427939" cy="427939"/>
          </a:xfrm>
          <a:prstGeom prst="ellipse">
            <a:avLst/>
          </a:prstGeom>
          <a:solidFill>
            <a:srgbClr val="A5FF78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52006" y="2776118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070D1D"/>
                </a:solidFill>
                <a:latin typeface="Aptos"/>
              </a:rPr>
              <a:t>D</a:t>
            </a:r>
          </a:p>
        </p:txBody>
      </p:sp>
      <p:sp>
        <p:nvSpPr>
          <p:cNvPr id="41" name="Oval 40"/>
          <p:cNvSpPr/>
          <p:nvPr/>
        </p:nvSpPr>
        <p:spPr>
          <a:xfrm>
            <a:off x="7768742" y="3489350"/>
            <a:ext cx="427939" cy="427939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68742" y="3516782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070D1D"/>
                </a:solidFill>
                <a:latin typeface="Aptos"/>
              </a:rPr>
              <a:t>E</a:t>
            </a:r>
          </a:p>
        </p:txBody>
      </p:sp>
      <p:sp>
        <p:nvSpPr>
          <p:cNvPr id="43" name="Oval 42"/>
          <p:cNvSpPr/>
          <p:nvPr/>
        </p:nvSpPr>
        <p:spPr>
          <a:xfrm>
            <a:off x="9250070" y="3983126"/>
            <a:ext cx="427939" cy="427939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50070" y="4010558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EEF5FF"/>
                </a:solidFill>
                <a:latin typeface="Aptos"/>
              </a:rPr>
              <a:t>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822960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DDCE6"/>
                </a:solidFill>
                <a:latin typeface="Aptos"/>
              </a:rPr>
              <a:t>ALGORITHM EXPLORATION DIVISION  /  DOSSIER 001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1417320"/>
            <a:ext cx="658368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 i="0">
                <a:solidFill>
                  <a:srgbClr val="EEF5FF"/>
                </a:solidFill>
                <a:latin typeface="Aptos"/>
              </a:rPr>
              <a:t>DFS</a:t>
            </a:r>
          </a:p>
          <a:p>
            <a:pPr algn="l">
              <a:spcAft>
                <a:spcPts val="500"/>
              </a:spcAft>
            </a:pPr>
            <a:r>
              <a:rPr sz="3600" b="1" i="0">
                <a:solidFill>
                  <a:srgbClr val="EEF5FF"/>
                </a:solidFill>
                <a:latin typeface="Aptos"/>
              </a:rPr>
              <a:t>MISSION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2971800"/>
            <a:ext cx="5760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9BB1CD"/>
                </a:solidFill>
                <a:latin typeface="Aptos"/>
              </a:rPr>
              <a:t>Depth-First Search, visualized as a live exploration mission.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3977639"/>
            <a:ext cx="539496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" y="4160520"/>
            <a:ext cx="4937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A5FF78"/>
                </a:solidFill>
                <a:latin typeface="Aptos"/>
              </a:rPr>
              <a:t>MISSION OBJECTIVE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4480560"/>
            <a:ext cx="4892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EF5FF"/>
                </a:solidFill>
                <a:latin typeface="Aptos"/>
              </a:rPr>
              <a:t>Explore deep • Track every visit • Backtrack safely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5669280"/>
            <a:ext cx="5669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DDCE6"/>
                </a:solidFill>
                <a:latin typeface="Aptos"/>
              </a:rPr>
              <a:t>THE COMPLETE DFS MASTERCLASS  •  THEORY + TRACE +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01 / MISSION BRIEFING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What you will 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A complete route from intuition to implementation.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02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1965960"/>
            <a:ext cx="2560320" cy="210312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" y="2148840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2DDCE6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" y="265176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EF5FF"/>
                </a:solidFill>
                <a:latin typeface="Aptos"/>
              </a:rPr>
              <a:t>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" y="3108960"/>
            <a:ext cx="2194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9BB1CD"/>
                </a:solidFill>
                <a:latin typeface="Aptos"/>
              </a:rPr>
              <a:t>Represent a problem as vertices and edges.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39" y="1965960"/>
            <a:ext cx="2560320" cy="210312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85031" y="2148840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4B91FF"/>
                </a:solidFill>
                <a:latin typeface="Apto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5031" y="265176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EF5FF"/>
                </a:solidFill>
                <a:latin typeface="Aptos"/>
              </a:rPr>
              <a:t>EXPLORE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85031" y="3108960"/>
            <a:ext cx="2194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9BB1CD"/>
                </a:solidFill>
                <a:latin typeface="Aptos"/>
              </a:rPr>
              <a:t>Visit one branch deeply before switching.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965960"/>
            <a:ext cx="2560320" cy="210312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B5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65392" y="2148840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B587FF"/>
                </a:solidFill>
                <a:latin typeface="Aptos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265176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EF5FF"/>
                </a:solidFill>
                <a:latin typeface="Aptos"/>
              </a:rPr>
              <a:t>TRACK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3108960"/>
            <a:ext cx="2194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9BB1CD"/>
                </a:solidFill>
                <a:latin typeface="Aptos"/>
              </a:rPr>
              <a:t>Use visited[] and a recursion/explicit stack.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81159" y="1965960"/>
            <a:ext cx="2560320" cy="210312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A5F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45751" y="2148840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A5FF78"/>
                </a:solidFill>
                <a:latin typeface="Apto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5751" y="265176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EF5FF"/>
                </a:solidFill>
                <a:latin typeface="Aptos"/>
              </a:rPr>
              <a:t>PROVE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5751" y="3108960"/>
            <a:ext cx="2194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9BB1CD"/>
                </a:solidFill>
                <a:latin typeface="Aptos"/>
              </a:rPr>
              <a:t>Understand correctness and complexity.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80060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EEF5FF"/>
                </a:solidFill>
                <a:latin typeface="Aptos"/>
              </a:rPr>
              <a:t>By the end: you should be able to trace DFS by hand, explain the stack, write C code, and defend its complexity in a viva.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02 / SYSTEM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First, what is a graph?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DFS explores a graph; it does not require a tree.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03 / 24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194560" y="2414016"/>
            <a:ext cx="1463040" cy="548640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94560" y="2962656"/>
            <a:ext cx="1316736" cy="1060704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57600" y="2414016"/>
            <a:ext cx="1463040" cy="585216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511296" y="2414016"/>
            <a:ext cx="146304" cy="1609344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20640" y="2999232"/>
            <a:ext cx="73152" cy="1097279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11296" y="4023360"/>
            <a:ext cx="1682496" cy="73151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004364" y="2772460"/>
            <a:ext cx="380390" cy="38039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04364" y="2799892"/>
            <a:ext cx="380390" cy="352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60" b="1" i="0">
                <a:solidFill>
                  <a:srgbClr val="EEF5FF"/>
                </a:solidFill>
                <a:latin typeface="Aptos"/>
              </a:rPr>
              <a:t>A</a:t>
            </a:r>
          </a:p>
        </p:txBody>
      </p:sp>
      <p:sp>
        <p:nvSpPr>
          <p:cNvPr id="38" name="Oval 37"/>
          <p:cNvSpPr/>
          <p:nvPr/>
        </p:nvSpPr>
        <p:spPr>
          <a:xfrm>
            <a:off x="3467404" y="2223820"/>
            <a:ext cx="380390" cy="38039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67404" y="2251252"/>
            <a:ext cx="380390" cy="352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60" b="1" i="0">
                <a:solidFill>
                  <a:srgbClr val="EEF5FF"/>
                </a:solidFill>
                <a:latin typeface="Aptos"/>
              </a:rPr>
              <a:t>B</a:t>
            </a:r>
          </a:p>
        </p:txBody>
      </p:sp>
      <p:sp>
        <p:nvSpPr>
          <p:cNvPr id="40" name="Oval 39"/>
          <p:cNvSpPr/>
          <p:nvPr/>
        </p:nvSpPr>
        <p:spPr>
          <a:xfrm>
            <a:off x="4930444" y="2809036"/>
            <a:ext cx="380390" cy="38039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30444" y="2836468"/>
            <a:ext cx="380390" cy="352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60" b="1" i="0">
                <a:solidFill>
                  <a:srgbClr val="EEF5FF"/>
                </a:solidFill>
                <a:latin typeface="Aptos"/>
              </a:rPr>
              <a:t>C</a:t>
            </a:r>
          </a:p>
        </p:txBody>
      </p:sp>
      <p:sp>
        <p:nvSpPr>
          <p:cNvPr id="42" name="Oval 41"/>
          <p:cNvSpPr/>
          <p:nvPr/>
        </p:nvSpPr>
        <p:spPr>
          <a:xfrm>
            <a:off x="3321100" y="3833164"/>
            <a:ext cx="380390" cy="38039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21100" y="3860596"/>
            <a:ext cx="380390" cy="352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60" b="1" i="0">
                <a:solidFill>
                  <a:srgbClr val="EEF5FF"/>
                </a:solidFill>
                <a:latin typeface="Aptos"/>
              </a:rPr>
              <a:t>D</a:t>
            </a:r>
          </a:p>
        </p:txBody>
      </p:sp>
      <p:sp>
        <p:nvSpPr>
          <p:cNvPr id="44" name="Oval 43"/>
          <p:cNvSpPr/>
          <p:nvPr/>
        </p:nvSpPr>
        <p:spPr>
          <a:xfrm>
            <a:off x="5003596" y="3906316"/>
            <a:ext cx="380390" cy="38039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03596" y="3933748"/>
            <a:ext cx="380390" cy="3529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60" b="1" i="0">
                <a:solidFill>
                  <a:srgbClr val="EEF5FF"/>
                </a:solidFill>
                <a:latin typeface="Aptos"/>
              </a:rPr>
              <a:t>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1828800"/>
            <a:ext cx="4389120" cy="301752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269480" y="2103120"/>
            <a:ext cx="37490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2DDCE6"/>
                </a:solidFill>
                <a:latin typeface="Aptos"/>
              </a:rPr>
              <a:t>GRAPH = (V, E)</a:t>
            </a:r>
          </a:p>
        </p:txBody>
      </p:sp>
      <p:sp>
        <p:nvSpPr>
          <p:cNvPr id="48" name="Oval 47"/>
          <p:cNvSpPr/>
          <p:nvPr/>
        </p:nvSpPr>
        <p:spPr>
          <a:xfrm>
            <a:off x="7269480" y="2724912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88936" y="2651760"/>
            <a:ext cx="3438144" cy="4206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V = set of vertices (nodes)</a:t>
            </a:r>
          </a:p>
        </p:txBody>
      </p:sp>
      <p:sp>
        <p:nvSpPr>
          <p:cNvPr id="50" name="Oval 49"/>
          <p:cNvSpPr/>
          <p:nvPr/>
        </p:nvSpPr>
        <p:spPr>
          <a:xfrm>
            <a:off x="7269480" y="3163824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88936" y="3090672"/>
            <a:ext cx="3438144" cy="4206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E = set of edges (connections)</a:t>
            </a:r>
          </a:p>
        </p:txBody>
      </p:sp>
      <p:sp>
        <p:nvSpPr>
          <p:cNvPr id="52" name="Oval 51"/>
          <p:cNvSpPr/>
          <p:nvPr/>
        </p:nvSpPr>
        <p:spPr>
          <a:xfrm>
            <a:off x="7269480" y="3602736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88936" y="3529584"/>
            <a:ext cx="3438144" cy="4206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Undirected edge: A—B works both ways</a:t>
            </a:r>
          </a:p>
        </p:txBody>
      </p:sp>
      <p:sp>
        <p:nvSpPr>
          <p:cNvPr id="54" name="Oval 53"/>
          <p:cNvSpPr/>
          <p:nvPr/>
        </p:nvSpPr>
        <p:spPr>
          <a:xfrm>
            <a:off x="7269480" y="4041648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88936" y="3968496"/>
            <a:ext cx="3438144" cy="4206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Directed edge: A → B has a direction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548640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9BB1CD"/>
                </a:solidFill>
                <a:latin typeface="Aptos"/>
              </a:rPr>
              <a:t>Think of nodes as locations and edges as roads. DFS is the exploration strategy used to navigate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03 / INTUITION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DFS: keep going until you cannot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Go deep along one available path; when blocked, backtrack.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04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1783080"/>
            <a:ext cx="4937760" cy="402336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201168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A5FF78"/>
                </a:solidFill>
                <a:latin typeface="Aptos"/>
              </a:rPr>
              <a:t>THE EXPLORER'S RULE</a:t>
            </a:r>
          </a:p>
        </p:txBody>
      </p:sp>
      <p:sp>
        <p:nvSpPr>
          <p:cNvPr id="32" name="Oval 31"/>
          <p:cNvSpPr/>
          <p:nvPr/>
        </p:nvSpPr>
        <p:spPr>
          <a:xfrm>
            <a:off x="960120" y="2633472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79576" y="2560320"/>
            <a:ext cx="3986783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EF5FF"/>
                </a:solidFill>
                <a:latin typeface="Aptos"/>
              </a:rPr>
              <a:t>Choose a start vertex.</a:t>
            </a:r>
          </a:p>
        </p:txBody>
      </p:sp>
      <p:sp>
        <p:nvSpPr>
          <p:cNvPr id="34" name="Oval 33"/>
          <p:cNvSpPr/>
          <p:nvPr/>
        </p:nvSpPr>
        <p:spPr>
          <a:xfrm>
            <a:off x="960120" y="3200400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79576" y="3127248"/>
            <a:ext cx="3986783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EF5FF"/>
                </a:solidFill>
                <a:latin typeface="Aptos"/>
              </a:rPr>
              <a:t>Mark it visited immediately.</a:t>
            </a:r>
          </a:p>
        </p:txBody>
      </p:sp>
      <p:sp>
        <p:nvSpPr>
          <p:cNvPr id="36" name="Oval 35"/>
          <p:cNvSpPr/>
          <p:nvPr/>
        </p:nvSpPr>
        <p:spPr>
          <a:xfrm>
            <a:off x="960120" y="3767328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79576" y="3694176"/>
            <a:ext cx="3986783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EF5FF"/>
                </a:solidFill>
                <a:latin typeface="Aptos"/>
              </a:rPr>
              <a:t>Choose an unvisited neighbour.</a:t>
            </a:r>
          </a:p>
        </p:txBody>
      </p:sp>
      <p:sp>
        <p:nvSpPr>
          <p:cNvPr id="38" name="Oval 37"/>
          <p:cNvSpPr/>
          <p:nvPr/>
        </p:nvSpPr>
        <p:spPr>
          <a:xfrm>
            <a:off x="960120" y="4334256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79576" y="4261104"/>
            <a:ext cx="3986783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EF5FF"/>
                </a:solidFill>
                <a:latin typeface="Aptos"/>
              </a:rPr>
              <a:t>Repeat until no unvisited neighbour remains.</a:t>
            </a:r>
          </a:p>
        </p:txBody>
      </p:sp>
      <p:sp>
        <p:nvSpPr>
          <p:cNvPr id="40" name="Oval 39"/>
          <p:cNvSpPr/>
          <p:nvPr/>
        </p:nvSpPr>
        <p:spPr>
          <a:xfrm>
            <a:off x="960120" y="4901183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79576" y="4828031"/>
            <a:ext cx="3986783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EF5FF"/>
                </a:solidFill>
                <a:latin typeface="Aptos"/>
              </a:rPr>
              <a:t>Backtrack to the most recent choice point.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949440" y="2962656"/>
            <a:ext cx="822960" cy="0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72400" y="2962656"/>
            <a:ext cx="822960" cy="0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595360" y="2962656"/>
            <a:ext cx="0" cy="740664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595360" y="3703320"/>
            <a:ext cx="0" cy="740663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595360" y="4443983"/>
            <a:ext cx="822960" cy="0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418320" y="4443983"/>
            <a:ext cx="822960" cy="0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735470" y="2748686"/>
            <a:ext cx="427939" cy="427939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35470" y="2776118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070D1D"/>
                </a:solidFill>
                <a:latin typeface="Aptos"/>
              </a:rPr>
              <a:t>S</a:t>
            </a:r>
          </a:p>
        </p:txBody>
      </p:sp>
      <p:sp>
        <p:nvSpPr>
          <p:cNvPr id="50" name="Oval 49"/>
          <p:cNvSpPr/>
          <p:nvPr/>
        </p:nvSpPr>
        <p:spPr>
          <a:xfrm>
            <a:off x="7558430" y="2748686"/>
            <a:ext cx="427939" cy="427939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58430" y="2776118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070D1D"/>
                </a:solidFill>
                <a:latin typeface="Aptos"/>
              </a:rPr>
              <a:t>A</a:t>
            </a:r>
          </a:p>
        </p:txBody>
      </p:sp>
      <p:sp>
        <p:nvSpPr>
          <p:cNvPr id="52" name="Oval 51"/>
          <p:cNvSpPr/>
          <p:nvPr/>
        </p:nvSpPr>
        <p:spPr>
          <a:xfrm>
            <a:off x="8381390" y="2748686"/>
            <a:ext cx="427939" cy="427939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81390" y="2776118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070D1D"/>
                </a:solidFill>
                <a:latin typeface="Aptos"/>
              </a:rPr>
              <a:t>B</a:t>
            </a:r>
          </a:p>
        </p:txBody>
      </p:sp>
      <p:sp>
        <p:nvSpPr>
          <p:cNvPr id="54" name="Oval 53"/>
          <p:cNvSpPr/>
          <p:nvPr/>
        </p:nvSpPr>
        <p:spPr>
          <a:xfrm>
            <a:off x="8381390" y="3489350"/>
            <a:ext cx="427939" cy="427939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81390" y="3516782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070D1D"/>
                </a:solidFill>
                <a:latin typeface="Aptos"/>
              </a:rPr>
              <a:t>C</a:t>
            </a:r>
          </a:p>
        </p:txBody>
      </p:sp>
      <p:sp>
        <p:nvSpPr>
          <p:cNvPr id="56" name="Oval 55"/>
          <p:cNvSpPr/>
          <p:nvPr/>
        </p:nvSpPr>
        <p:spPr>
          <a:xfrm>
            <a:off x="8381390" y="4230014"/>
            <a:ext cx="427939" cy="427939"/>
          </a:xfrm>
          <a:prstGeom prst="ellipse">
            <a:avLst/>
          </a:prstGeom>
          <a:solidFill>
            <a:srgbClr val="A5FF78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81390" y="4257446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070D1D"/>
                </a:solidFill>
                <a:latin typeface="Aptos"/>
              </a:rPr>
              <a:t>D</a:t>
            </a:r>
          </a:p>
        </p:txBody>
      </p:sp>
      <p:sp>
        <p:nvSpPr>
          <p:cNvPr id="58" name="Oval 57"/>
          <p:cNvSpPr/>
          <p:nvPr/>
        </p:nvSpPr>
        <p:spPr>
          <a:xfrm>
            <a:off x="9204350" y="4230014"/>
            <a:ext cx="427939" cy="427939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204350" y="4257446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EEF5FF"/>
                </a:solidFill>
                <a:latin typeface="Aptos"/>
              </a:rPr>
              <a:t>E</a:t>
            </a:r>
          </a:p>
        </p:txBody>
      </p:sp>
      <p:sp>
        <p:nvSpPr>
          <p:cNvPr id="60" name="Oval 59"/>
          <p:cNvSpPr/>
          <p:nvPr/>
        </p:nvSpPr>
        <p:spPr>
          <a:xfrm>
            <a:off x="10027310" y="4230014"/>
            <a:ext cx="427939" cy="427939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027310" y="4257446"/>
            <a:ext cx="427939" cy="40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80" b="1" i="0">
                <a:solidFill>
                  <a:srgbClr val="EEF5FF"/>
                </a:solidFill>
                <a:latin typeface="Aptos"/>
              </a:rPr>
              <a:t>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120640"/>
            <a:ext cx="4846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A5FF78"/>
                </a:solidFill>
                <a:latin typeface="Aptos"/>
              </a:rPr>
              <a:t>The green node is the current frontier.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04 / CORE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The DFS algorithm in five moves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The order of these steps is important.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05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1783080"/>
            <a:ext cx="10424160" cy="621792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1901952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DDCE6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1883664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F5FF"/>
                </a:solidFill>
                <a:latin typeface="Aptos"/>
              </a:rPr>
              <a:t>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1892807"/>
            <a:ext cx="7315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Receive a vertex u.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2587752"/>
            <a:ext cx="10424160" cy="621792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2706624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DDCE6"/>
                </a:solidFill>
                <a:latin typeface="Apto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2688336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F5FF"/>
                </a:solidFill>
                <a:latin typeface="Aptos"/>
              </a:rPr>
              <a:t>MARK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2697480"/>
            <a:ext cx="7315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Set visited[u] = true.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3392424"/>
            <a:ext cx="10424160" cy="621792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3511296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DDCE6"/>
                </a:solidFill>
                <a:latin typeface="Aptos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3493008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F5FF"/>
                </a:solidFill>
                <a:latin typeface="Aptos"/>
              </a:rPr>
              <a:t>SCAN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3502152"/>
            <a:ext cx="7315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Inspect each neighbour v of u.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4197096"/>
            <a:ext cx="10424160" cy="621792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" y="4315968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DDCE6"/>
                </a:solidFill>
                <a:latin typeface="Apto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29768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A5FF78"/>
                </a:solidFill>
                <a:latin typeface="Aptos"/>
              </a:rPr>
              <a:t>RECURSE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4306824"/>
            <a:ext cx="7315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If v is unvisited, run DFS(v).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5001768"/>
            <a:ext cx="10424160" cy="621792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05840" y="512064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DDCE6"/>
                </a:solidFill>
                <a:latin typeface="Aptos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5102352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F5FF"/>
                </a:solidFill>
                <a:latin typeface="Aptos"/>
              </a:rPr>
              <a:t>RETURN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5111496"/>
            <a:ext cx="7315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Finish u after all neighbours are handled.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B04C"/>
                </a:solidFill>
                <a:latin typeface="Aptos"/>
              </a:rPr>
              <a:t>Critical rule: mark a vertex visited before exploring its neighbours.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05 / LIVE 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Our mission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Assume neighbours are explored in alphabetical order for this trace.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06 / 24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157984" y="2395728"/>
            <a:ext cx="1426464" cy="570585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57984" y="2966313"/>
            <a:ext cx="1283817" cy="92720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84448" y="2395728"/>
            <a:ext cx="1640433" cy="641908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441801" y="2395728"/>
            <a:ext cx="142647" cy="1497787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153558" y="3037636"/>
            <a:ext cx="71323" cy="114117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41801" y="3893515"/>
            <a:ext cx="1711757" cy="285293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153558" y="3465576"/>
            <a:ext cx="1426464" cy="71323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972543" y="2780873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72543" y="2808305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3399007" y="2210287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99007" y="223771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B</a:t>
            </a:r>
          </a:p>
        </p:txBody>
      </p:sp>
      <p:sp>
        <p:nvSpPr>
          <p:cNvPr id="41" name="Oval 40"/>
          <p:cNvSpPr/>
          <p:nvPr/>
        </p:nvSpPr>
        <p:spPr>
          <a:xfrm>
            <a:off x="5039441" y="2852196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39441" y="2879628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3256361" y="3708074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56361" y="3735506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4968118" y="3993367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68118" y="402079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E</a:t>
            </a:r>
          </a:p>
        </p:txBody>
      </p:sp>
      <p:sp>
        <p:nvSpPr>
          <p:cNvPr id="47" name="Oval 46"/>
          <p:cNvSpPr/>
          <p:nvPr/>
        </p:nvSpPr>
        <p:spPr>
          <a:xfrm>
            <a:off x="6394582" y="3280135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94582" y="3307567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1828800"/>
            <a:ext cx="3017520" cy="310896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95360" y="2057400"/>
            <a:ext cx="2468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DDCE6"/>
                </a:solidFill>
                <a:latin typeface="Aptos"/>
              </a:rPr>
              <a:t>TRACE SETTINGS</a:t>
            </a:r>
          </a:p>
        </p:txBody>
      </p:sp>
      <p:sp>
        <p:nvSpPr>
          <p:cNvPr id="51" name="Oval 50"/>
          <p:cNvSpPr/>
          <p:nvPr/>
        </p:nvSpPr>
        <p:spPr>
          <a:xfrm>
            <a:off x="8595360" y="2633472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14816" y="2560320"/>
            <a:ext cx="2249424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Start = A</a:t>
            </a:r>
          </a:p>
        </p:txBody>
      </p:sp>
      <p:sp>
        <p:nvSpPr>
          <p:cNvPr id="53" name="Oval 52"/>
          <p:cNvSpPr/>
          <p:nvPr/>
        </p:nvSpPr>
        <p:spPr>
          <a:xfrm>
            <a:off x="8595360" y="3136391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814816" y="3063239"/>
            <a:ext cx="2249424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Order = A→B first</a:t>
            </a:r>
          </a:p>
        </p:txBody>
      </p:sp>
      <p:sp>
        <p:nvSpPr>
          <p:cNvPr id="55" name="Oval 54"/>
          <p:cNvSpPr/>
          <p:nvPr/>
        </p:nvSpPr>
        <p:spPr>
          <a:xfrm>
            <a:off x="8595360" y="3639312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14816" y="3566160"/>
            <a:ext cx="2249424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Undirected graph</a:t>
            </a:r>
          </a:p>
        </p:txBody>
      </p:sp>
      <p:sp>
        <p:nvSpPr>
          <p:cNvPr id="57" name="Oval 56"/>
          <p:cNvSpPr/>
          <p:nvPr/>
        </p:nvSpPr>
        <p:spPr>
          <a:xfrm>
            <a:off x="8595360" y="4142232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14816" y="4069080"/>
            <a:ext cx="2249424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Visited nodes stay marked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9BB1CD"/>
                </a:solidFill>
                <a:latin typeface="Aptos"/>
              </a:rPr>
              <a:t>Traversal can change when neighbour ordering changes. DFS is a strategy, not one universal visit order.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06 / TRAVERSAL SEQUENCE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Step 1 — enter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Mark A before scanning its neighbours.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07 / 24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249424" y="2441448"/>
            <a:ext cx="1426464" cy="570585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49424" y="3012033"/>
            <a:ext cx="1283817" cy="92720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75888" y="2441448"/>
            <a:ext cx="1640433" cy="641908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533241" y="2441448"/>
            <a:ext cx="142647" cy="1497787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244998" y="3083356"/>
            <a:ext cx="71323" cy="114117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33241" y="3939235"/>
            <a:ext cx="1711757" cy="285293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244998" y="3511296"/>
            <a:ext cx="1426464" cy="71323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063983" y="2826593"/>
            <a:ext cx="370880" cy="370880"/>
          </a:xfrm>
          <a:prstGeom prst="ellipse">
            <a:avLst/>
          </a:prstGeom>
          <a:solidFill>
            <a:srgbClr val="A5FF78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63983" y="2854025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3490447" y="2256007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90447" y="228343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B</a:t>
            </a:r>
          </a:p>
        </p:txBody>
      </p:sp>
      <p:sp>
        <p:nvSpPr>
          <p:cNvPr id="41" name="Oval 40"/>
          <p:cNvSpPr/>
          <p:nvPr/>
        </p:nvSpPr>
        <p:spPr>
          <a:xfrm>
            <a:off x="5130881" y="2897916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30881" y="2925348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3347801" y="3753794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7801" y="3781226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5059558" y="4039087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59558" y="406651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E</a:t>
            </a:r>
          </a:p>
        </p:txBody>
      </p:sp>
      <p:sp>
        <p:nvSpPr>
          <p:cNvPr id="47" name="Oval 46"/>
          <p:cNvSpPr/>
          <p:nvPr/>
        </p:nvSpPr>
        <p:spPr>
          <a:xfrm>
            <a:off x="6486022" y="3325855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86022" y="3353287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1828800"/>
            <a:ext cx="2743200" cy="256032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0" y="205740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DDCE6"/>
                </a:solidFill>
                <a:latin typeface="Aptos"/>
              </a:rPr>
              <a:t>STACK / CALLS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256032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A5FF78"/>
                </a:solidFill>
                <a:latin typeface="Consolas"/>
              </a:rPr>
              <a:t>[ A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365760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Visited: {A}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EEF5FF"/>
                </a:solidFill>
                <a:latin typeface="Aptos"/>
              </a:rPr>
              <a:t>Next unvisited neighbour of A: B (alphabetical order).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06 / TRAVERSAL SEQUENCE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Step 2 — go deeper to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DFS does not finish A yet; A remains on the call stack.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08 / 24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249424" y="2441448"/>
            <a:ext cx="1426464" cy="570585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49424" y="3012033"/>
            <a:ext cx="1283817" cy="92720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75888" y="2441448"/>
            <a:ext cx="1640433" cy="641908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533241" y="2441448"/>
            <a:ext cx="142647" cy="1497787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244998" y="3083356"/>
            <a:ext cx="71323" cy="114117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33241" y="3939235"/>
            <a:ext cx="1711757" cy="285293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244998" y="3511296"/>
            <a:ext cx="1426464" cy="71323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063983" y="2826593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63983" y="2854025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3490447" y="2256007"/>
            <a:ext cx="370880" cy="370880"/>
          </a:xfrm>
          <a:prstGeom prst="ellipse">
            <a:avLst/>
          </a:prstGeom>
          <a:solidFill>
            <a:srgbClr val="A5FF78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90447" y="228343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B</a:t>
            </a:r>
          </a:p>
        </p:txBody>
      </p:sp>
      <p:sp>
        <p:nvSpPr>
          <p:cNvPr id="41" name="Oval 40"/>
          <p:cNvSpPr/>
          <p:nvPr/>
        </p:nvSpPr>
        <p:spPr>
          <a:xfrm>
            <a:off x="5130881" y="2897916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30881" y="2925348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3347801" y="3753794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7801" y="3781226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5059558" y="4039087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59558" y="406651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E</a:t>
            </a:r>
          </a:p>
        </p:txBody>
      </p:sp>
      <p:sp>
        <p:nvSpPr>
          <p:cNvPr id="47" name="Oval 46"/>
          <p:cNvSpPr/>
          <p:nvPr/>
        </p:nvSpPr>
        <p:spPr>
          <a:xfrm>
            <a:off x="6486022" y="3325855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86022" y="3353287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1828800"/>
            <a:ext cx="2743200" cy="256032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0" y="205740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DDCE6"/>
                </a:solidFill>
                <a:latin typeface="Aptos"/>
              </a:rPr>
              <a:t>STACK / CALLS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2560320"/>
            <a:ext cx="2103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5FF78"/>
                </a:solidFill>
                <a:latin typeface="Consolas"/>
              </a:rPr>
              <a:t>[ A ]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5FF78"/>
                </a:solidFill>
                <a:latin typeface="Consolas"/>
              </a:rPr>
              <a:t>[ B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3794760"/>
            <a:ext cx="2194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EEF5FF"/>
                </a:solidFill>
                <a:latin typeface="Aptos"/>
              </a:rPr>
              <a:t>Visited: {A, B}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EEF5FF"/>
                </a:solidFill>
                <a:latin typeface="Aptos"/>
              </a:rPr>
              <a:t>B's next unvisited neighbour is 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06 / TRAVERSAL SEQUENCE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Step 3 — descend to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The active path now reaches the far side of the graph.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09 / 24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249424" y="2441448"/>
            <a:ext cx="1426464" cy="570585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49424" y="3012033"/>
            <a:ext cx="1283817" cy="92720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75888" y="2441448"/>
            <a:ext cx="1640433" cy="641908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533241" y="2441448"/>
            <a:ext cx="142647" cy="1497787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244998" y="3083356"/>
            <a:ext cx="71323" cy="114117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33241" y="3939235"/>
            <a:ext cx="1711757" cy="285293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244998" y="3511296"/>
            <a:ext cx="1426464" cy="71323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063983" y="2826593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63983" y="2854025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3490447" y="2256007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90447" y="228343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B</a:t>
            </a:r>
          </a:p>
        </p:txBody>
      </p:sp>
      <p:sp>
        <p:nvSpPr>
          <p:cNvPr id="41" name="Oval 40"/>
          <p:cNvSpPr/>
          <p:nvPr/>
        </p:nvSpPr>
        <p:spPr>
          <a:xfrm>
            <a:off x="5130881" y="2897916"/>
            <a:ext cx="370880" cy="370880"/>
          </a:xfrm>
          <a:prstGeom prst="ellipse">
            <a:avLst/>
          </a:prstGeom>
          <a:solidFill>
            <a:srgbClr val="A5FF78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30881" y="2925348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3347801" y="3753794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7801" y="3781226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5059558" y="4039087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59558" y="406651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E</a:t>
            </a:r>
          </a:p>
        </p:txBody>
      </p:sp>
      <p:sp>
        <p:nvSpPr>
          <p:cNvPr id="47" name="Oval 46"/>
          <p:cNvSpPr/>
          <p:nvPr/>
        </p:nvSpPr>
        <p:spPr>
          <a:xfrm>
            <a:off x="6486022" y="3325855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86022" y="3353287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1828800"/>
            <a:ext cx="2743200" cy="256032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0" y="205740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DDCE6"/>
                </a:solidFill>
                <a:latin typeface="Aptos"/>
              </a:rPr>
              <a:t>STACK / CALLS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2560320"/>
            <a:ext cx="21031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A5FF78"/>
                </a:solidFill>
                <a:latin typeface="Consolas"/>
              </a:rPr>
              <a:t>[ A ]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A5FF78"/>
                </a:solidFill>
                <a:latin typeface="Consolas"/>
              </a:rPr>
              <a:t>[ B ]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A5FF78"/>
                </a:solidFill>
                <a:latin typeface="Consolas"/>
              </a:rPr>
              <a:t>[ C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06908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EEF5FF"/>
                </a:solidFill>
                <a:latin typeface="Aptos"/>
              </a:rPr>
              <a:t>Visited: {A, B, C}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EEF5FF"/>
                </a:solidFill>
                <a:latin typeface="Aptos"/>
              </a:rPr>
              <a:t>C's neighbour E is unvisited, so DFS continues to 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06 / TRAVERSAL SEQUENCE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Step 4 — reach E, then 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DFS keeps descending while a fresh neighbour exists.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10 / 24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249424" y="2441448"/>
            <a:ext cx="1426464" cy="570585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49424" y="3012033"/>
            <a:ext cx="1283817" cy="927202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75888" y="2441448"/>
            <a:ext cx="1640433" cy="641908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533241" y="2441448"/>
            <a:ext cx="142647" cy="1497787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244998" y="3083356"/>
            <a:ext cx="71323" cy="1141172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33241" y="3939235"/>
            <a:ext cx="1711757" cy="285293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244998" y="3511296"/>
            <a:ext cx="1426464" cy="713232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063983" y="2826593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63983" y="2854025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3490447" y="2256007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90447" y="228343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B</a:t>
            </a:r>
          </a:p>
        </p:txBody>
      </p:sp>
      <p:sp>
        <p:nvSpPr>
          <p:cNvPr id="41" name="Oval 40"/>
          <p:cNvSpPr/>
          <p:nvPr/>
        </p:nvSpPr>
        <p:spPr>
          <a:xfrm>
            <a:off x="5130881" y="2897916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30881" y="2925348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3347801" y="3753794"/>
            <a:ext cx="370880" cy="370880"/>
          </a:xfrm>
          <a:prstGeom prst="ellipse">
            <a:avLst/>
          </a:prstGeom>
          <a:solidFill>
            <a:srgbClr val="142641"/>
          </a:solidFill>
          <a:ln w="254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7801" y="3781226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EEF5FF"/>
                </a:solidFill>
                <a:latin typeface="Aptos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5059558" y="4039087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59558" y="406651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E</a:t>
            </a:r>
          </a:p>
        </p:txBody>
      </p:sp>
      <p:sp>
        <p:nvSpPr>
          <p:cNvPr id="47" name="Oval 46"/>
          <p:cNvSpPr/>
          <p:nvPr/>
        </p:nvSpPr>
        <p:spPr>
          <a:xfrm>
            <a:off x="6486022" y="3325855"/>
            <a:ext cx="370880" cy="370880"/>
          </a:xfrm>
          <a:prstGeom prst="ellipse">
            <a:avLst/>
          </a:prstGeom>
          <a:solidFill>
            <a:srgbClr val="A5FF78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86022" y="3353287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1828800"/>
            <a:ext cx="2743200" cy="283464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0" y="205740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DDCE6"/>
                </a:solidFill>
                <a:latin typeface="Aptos"/>
              </a:rPr>
              <a:t>STACK / CALLS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2560320"/>
            <a:ext cx="210312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A5FF78"/>
                </a:solidFill>
                <a:latin typeface="Consolas"/>
              </a:rPr>
              <a:t>[ A ]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A5FF78"/>
                </a:solidFill>
                <a:latin typeface="Consolas"/>
              </a:rPr>
              <a:t>[ B ]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A5FF78"/>
                </a:solidFill>
                <a:latin typeface="Consolas"/>
              </a:rPr>
              <a:t>[ C ]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A5FF78"/>
                </a:solidFill>
                <a:latin typeface="Consolas"/>
              </a:rPr>
              <a:t>[ E ]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A5FF78"/>
                </a:solidFill>
                <a:latin typeface="Consolas"/>
              </a:rPr>
              <a:t>[ F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34340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EEF5FF"/>
                </a:solidFill>
                <a:latin typeface="Aptos"/>
              </a:rPr>
              <a:t>Visited: A,B,C,E,F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B04C"/>
                </a:solidFill>
                <a:latin typeface="Aptos"/>
              </a:rPr>
              <a:t>F has no unvisited neighbour. The algorithm begins to backtrack.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06 / TRAVERSAL SEQUENCE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Step 5 — backtrack to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Returning from F and E exposes the remaining unvisited branch 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11 / 24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249424" y="2441448"/>
            <a:ext cx="1426464" cy="570585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49424" y="3012033"/>
            <a:ext cx="1283817" cy="927202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75888" y="2441448"/>
            <a:ext cx="1640433" cy="641908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533241" y="2441448"/>
            <a:ext cx="142647" cy="1497787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244998" y="3083356"/>
            <a:ext cx="71323" cy="1141172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33241" y="3939235"/>
            <a:ext cx="1711757" cy="285293"/>
          </a:xfrm>
          <a:prstGeom prst="line">
            <a:avLst/>
          </a:prstGeom>
          <a:ln w="19050">
            <a:solidFill>
              <a:srgbClr val="9BB1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244998" y="3511296"/>
            <a:ext cx="1426464" cy="713232"/>
          </a:xfrm>
          <a:prstGeom prst="line">
            <a:avLst/>
          </a:prstGeom>
          <a:ln w="38100">
            <a:solidFill>
              <a:srgbClr val="2D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063983" y="2826593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63983" y="2854025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3490447" y="2256007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90447" y="228343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B</a:t>
            </a:r>
          </a:p>
        </p:txBody>
      </p:sp>
      <p:sp>
        <p:nvSpPr>
          <p:cNvPr id="41" name="Oval 40"/>
          <p:cNvSpPr/>
          <p:nvPr/>
        </p:nvSpPr>
        <p:spPr>
          <a:xfrm>
            <a:off x="5130881" y="2897916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30881" y="2925348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3347801" y="3753794"/>
            <a:ext cx="370880" cy="370880"/>
          </a:xfrm>
          <a:prstGeom prst="ellipse">
            <a:avLst/>
          </a:prstGeom>
          <a:solidFill>
            <a:srgbClr val="A5FF78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47801" y="3781226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5059558" y="4039087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59558" y="4066519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E</a:t>
            </a:r>
          </a:p>
        </p:txBody>
      </p:sp>
      <p:sp>
        <p:nvSpPr>
          <p:cNvPr id="47" name="Oval 46"/>
          <p:cNvSpPr/>
          <p:nvPr/>
        </p:nvSpPr>
        <p:spPr>
          <a:xfrm>
            <a:off x="6486022" y="3325855"/>
            <a:ext cx="370880" cy="370880"/>
          </a:xfrm>
          <a:prstGeom prst="ellipse">
            <a:avLst/>
          </a:prstGeom>
          <a:solidFill>
            <a:srgbClr val="2DDCE6"/>
          </a:solidFill>
          <a:ln w="254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86022" y="3353287"/>
            <a:ext cx="370880" cy="343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36" b="1" i="0">
                <a:solidFill>
                  <a:srgbClr val="070D1D"/>
                </a:solidFill>
                <a:latin typeface="Aptos"/>
              </a:rPr>
              <a:t>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1828800"/>
            <a:ext cx="2743200" cy="283464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0" y="205740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DDCE6"/>
                </a:solidFill>
                <a:latin typeface="Aptos"/>
              </a:rPr>
              <a:t>STACK / CALLS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2560320"/>
            <a:ext cx="210312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A5FF78"/>
                </a:solidFill>
                <a:latin typeface="Consolas"/>
              </a:rPr>
              <a:t>... return F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A5FF78"/>
                </a:solidFill>
                <a:latin typeface="Consolas"/>
              </a:rPr>
              <a:t>... return E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A5FF78"/>
                </a:solidFill>
                <a:latin typeface="Consolas"/>
              </a:rPr>
              <a:t>... return C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A5FF78"/>
                </a:solidFill>
                <a:latin typeface="Consolas"/>
              </a:rPr>
              <a:t>... return 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25196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EEF5FF"/>
                </a:solidFill>
                <a:latin typeface="Aptos"/>
              </a:rPr>
              <a:t>All vertices visited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2DDCE6"/>
                </a:solidFill>
                <a:latin typeface="Aptos"/>
              </a:rPr>
              <a:t>Traversal order: A → B → C → E → F → 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06 / TRAVERSAL SEQUENCE 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Traversal log — mission 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With alphabetical neighbour order, the DFS discovery order is: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12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194560"/>
            <a:ext cx="141732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2395728"/>
            <a:ext cx="1417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 i="0">
                <a:solidFill>
                  <a:srgbClr val="2DDCE6"/>
                </a:solidFill>
                <a:latin typeface="Aptos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88036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VISIT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9424" y="254203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EEF5FF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0048" y="2194560"/>
            <a:ext cx="141732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70048" y="2395728"/>
            <a:ext cx="1417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 i="0">
                <a:solidFill>
                  <a:srgbClr val="2DDCE6"/>
                </a:solidFill>
                <a:latin typeface="Aptos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0048" y="288036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VISIT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6512" y="254203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EEF5FF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17136" y="2194560"/>
            <a:ext cx="141732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17136" y="2395728"/>
            <a:ext cx="1417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 i="0">
                <a:solidFill>
                  <a:srgbClr val="2DDCE6"/>
                </a:solidFill>
                <a:latin typeface="Aptos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7136" y="288036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VISIT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54203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EEF5FF"/>
                </a:solidFill>
                <a:latin typeface="Aptos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64224" y="2194560"/>
            <a:ext cx="141732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64224" y="2395728"/>
            <a:ext cx="1417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 i="0">
                <a:solidFill>
                  <a:srgbClr val="2DDCE6"/>
                </a:solidFill>
                <a:latin typeface="Aptos"/>
              </a:rPr>
              <a:t>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4224" y="288036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VISIT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90688" y="254203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EEF5FF"/>
                </a:solidFill>
                <a:latin typeface="Aptos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11312" y="2194560"/>
            <a:ext cx="141732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11312" y="2395728"/>
            <a:ext cx="1417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 i="0">
                <a:solidFill>
                  <a:srgbClr val="2DDCE6"/>
                </a:solidFill>
                <a:latin typeface="Aptos"/>
              </a:rPr>
              <a:t>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288036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VISIT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37776" y="254203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EEF5FF"/>
                </a:solidFill>
                <a:latin typeface="Aptos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0" y="2194560"/>
            <a:ext cx="1417320" cy="1143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A5F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058400" y="2395728"/>
            <a:ext cx="14173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600" b="1" i="0">
                <a:solidFill>
                  <a:srgbClr val="A5FF78"/>
                </a:solidFill>
                <a:latin typeface="Aptos"/>
              </a:rPr>
              <a:t>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2880360"/>
            <a:ext cx="1417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VISIT 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" y="4160520"/>
            <a:ext cx="10058400" cy="100584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80160" y="4370832"/>
            <a:ext cx="9509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B04C"/>
                </a:solidFill>
                <a:latin typeface="Aptos"/>
              </a:rPr>
              <a:t>DISCOVERY ORDER ≠ EDGE LIST ≠ STACK ORDER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4709160"/>
            <a:ext cx="9326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Discovery order records when nodes are first visited; the call stack records unfinished recursive calls.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07 / STACK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Why the stack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Recursion uses the program call stack; iterative DFS uses an explicit stack.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13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1828800"/>
            <a:ext cx="5074920" cy="356616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2057400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DDCE6"/>
                </a:solidFill>
                <a:latin typeface="Aptos"/>
              </a:rPr>
              <a:t>RECURSIVE CALL STACK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2651760"/>
            <a:ext cx="4389120" cy="36576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88720" y="2706624"/>
            <a:ext cx="4114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F5FF"/>
                </a:solidFill>
                <a:latin typeface="Consolas"/>
              </a:rPr>
              <a:t>DFS(A)  ← waiting for child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3127248"/>
            <a:ext cx="4389120" cy="36576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3182112"/>
            <a:ext cx="4114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F5FF"/>
                </a:solidFill>
                <a:latin typeface="Consolas"/>
              </a:rPr>
              <a:t>DFS(B)  ← waiting for child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" y="3602736"/>
            <a:ext cx="4389120" cy="36576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88720" y="3657600"/>
            <a:ext cx="4114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F5FF"/>
                </a:solidFill>
                <a:latin typeface="Consolas"/>
              </a:rPr>
              <a:t>DFS(C)  ← waiting for child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" y="4078224"/>
            <a:ext cx="4389120" cy="36576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88720" y="4133087"/>
            <a:ext cx="4114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F5FF"/>
                </a:solidFill>
                <a:latin typeface="Consolas"/>
              </a:rPr>
              <a:t>DFS(E)  ← waiting for child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1560" y="4553712"/>
            <a:ext cx="4389120" cy="36576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A5F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88720" y="4608576"/>
            <a:ext cx="411480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A5FF78"/>
                </a:solidFill>
                <a:latin typeface="Consolas"/>
              </a:rPr>
              <a:t>DFS(F)  ← current call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1828800"/>
            <a:ext cx="5120640" cy="356616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2057400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B587FF"/>
                </a:solidFill>
                <a:latin typeface="Aptos"/>
              </a:rPr>
              <a:t>STACK LIFO BEHAVIOUR</a:t>
            </a:r>
          </a:p>
        </p:txBody>
      </p:sp>
      <p:sp>
        <p:nvSpPr>
          <p:cNvPr id="44" name="Oval 43"/>
          <p:cNvSpPr/>
          <p:nvPr/>
        </p:nvSpPr>
        <p:spPr>
          <a:xfrm>
            <a:off x="6492240" y="2724912"/>
            <a:ext cx="100584" cy="100584"/>
          </a:xfrm>
          <a:prstGeom prst="ellipse">
            <a:avLst/>
          </a:prstGeom>
          <a:solidFill>
            <a:srgbClr val="B5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11696" y="2651760"/>
            <a:ext cx="4169663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Push: add a new work item.</a:t>
            </a:r>
          </a:p>
        </p:txBody>
      </p:sp>
      <p:sp>
        <p:nvSpPr>
          <p:cNvPr id="46" name="Oval 45"/>
          <p:cNvSpPr/>
          <p:nvPr/>
        </p:nvSpPr>
        <p:spPr>
          <a:xfrm>
            <a:off x="6492240" y="3291840"/>
            <a:ext cx="100584" cy="100584"/>
          </a:xfrm>
          <a:prstGeom prst="ellipse">
            <a:avLst/>
          </a:prstGeom>
          <a:solidFill>
            <a:srgbClr val="B5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11696" y="3218688"/>
            <a:ext cx="4169663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Pop: process the most recent item.</a:t>
            </a:r>
          </a:p>
        </p:txBody>
      </p:sp>
      <p:sp>
        <p:nvSpPr>
          <p:cNvPr id="48" name="Oval 47"/>
          <p:cNvSpPr/>
          <p:nvPr/>
        </p:nvSpPr>
        <p:spPr>
          <a:xfrm>
            <a:off x="6492240" y="3858768"/>
            <a:ext cx="100584" cy="100584"/>
          </a:xfrm>
          <a:prstGeom prst="ellipse">
            <a:avLst/>
          </a:prstGeom>
          <a:solidFill>
            <a:srgbClr val="B5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11696" y="3785615"/>
            <a:ext cx="4169663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LIFO = Last In, First Out.</a:t>
            </a:r>
          </a:p>
        </p:txBody>
      </p:sp>
      <p:sp>
        <p:nvSpPr>
          <p:cNvPr id="50" name="Oval 49"/>
          <p:cNvSpPr/>
          <p:nvPr/>
        </p:nvSpPr>
        <p:spPr>
          <a:xfrm>
            <a:off x="6492240" y="4425696"/>
            <a:ext cx="100584" cy="100584"/>
          </a:xfrm>
          <a:prstGeom prst="ellipse">
            <a:avLst/>
          </a:prstGeom>
          <a:solidFill>
            <a:srgbClr val="B5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11696" y="4352544"/>
            <a:ext cx="4169663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Backtracking resumes the previous choice point.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715000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B04C"/>
                </a:solidFill>
                <a:latin typeface="Aptos"/>
              </a:rPr>
              <a:t>Stack is not the same as visited[]: stack tracks active work; visited[] prevents repeated exploration.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08 / ALGORITHM BLUEPRINT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Recursive DFS — pseudocode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Language-independent logic; adjacency representation determines how neighbours are scanned.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14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1783080"/>
            <a:ext cx="6492240" cy="4297680"/>
          </a:xfrm>
          <a:prstGeom prst="roundRect">
            <a:avLst/>
          </a:prstGeom>
          <a:solidFill>
            <a:srgbClr val="050A1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6112" y="1929384"/>
            <a:ext cx="82296" cy="82296"/>
          </a:xfrm>
          <a:prstGeom prst="ellipse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60704" y="1929384"/>
            <a:ext cx="82296" cy="82296"/>
          </a:xfrm>
          <a:prstGeom prst="ellipse">
            <a:avLst/>
          </a:prstGeom>
          <a:solidFill>
            <a:srgbClr val="FF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225295" y="1929384"/>
            <a:ext cx="82296" cy="82296"/>
          </a:xfrm>
          <a:prstGeom prst="ellipse">
            <a:avLst/>
          </a:prstGeom>
          <a:solidFill>
            <a:srgbClr val="A5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7824" y="2121408"/>
            <a:ext cx="6217920" cy="3886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DCE6"/>
                </a:solidFill>
                <a:latin typeface="Consolas"/>
              </a:rPr>
              <a:t>DFS(u):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DCE6"/>
                </a:solidFill>
                <a:latin typeface="Consolas"/>
              </a:rPr>
              <a:t>    visited[u] = true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DCE6"/>
                </a:solidFill>
                <a:latin typeface="Consolas"/>
              </a:rPr>
              <a:t>    output(u)</a:t>
            </a:r>
          </a:p>
          <a:p>
            <a:pPr algn="l">
              <a:spcAft>
                <a:spcPts val="500"/>
              </a:spcAft>
            </a:pPr>
            <a:endParaRPr sz="1500" b="0" i="0">
              <a:solidFill>
                <a:srgbClr val="2DDCE6"/>
              </a:solidFill>
              <a:latin typeface="Consolas"/>
            </a:endParaRP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DCE6"/>
                </a:solidFill>
                <a:latin typeface="Consolas"/>
              </a:rPr>
              <a:t>    for each neighbour v of u: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DCE6"/>
                </a:solidFill>
                <a:latin typeface="Consolas"/>
              </a:rPr>
              <a:t>        if visited[v] == false: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DCE6"/>
                </a:solidFill>
                <a:latin typeface="Consolas"/>
              </a:rPr>
              <a:t>            DFS(v)</a:t>
            </a:r>
          </a:p>
          <a:p>
            <a:pPr algn="l">
              <a:spcAft>
                <a:spcPts val="500"/>
              </a:spcAft>
            </a:pPr>
            <a:endParaRPr sz="1500" b="0" i="0">
              <a:solidFill>
                <a:srgbClr val="2DDCE6"/>
              </a:solidFill>
              <a:latin typeface="Consolas"/>
            </a:endParaRP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DCE6"/>
                </a:solidFill>
                <a:latin typeface="Consolas"/>
              </a:rPr>
              <a:t># Start one component: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DCE6"/>
                </a:solidFill>
                <a:latin typeface="Consolas"/>
              </a:rPr>
              <a:t>DFS(start)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1965960"/>
            <a:ext cx="3657600" cy="347472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09560" y="2240280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A5FF78"/>
                </a:solidFill>
                <a:latin typeface="Aptos"/>
              </a:rPr>
              <a:t>INVARIANTS</a:t>
            </a:r>
          </a:p>
        </p:txBody>
      </p:sp>
      <p:sp>
        <p:nvSpPr>
          <p:cNvPr id="37" name="Oval 36"/>
          <p:cNvSpPr/>
          <p:nvPr/>
        </p:nvSpPr>
        <p:spPr>
          <a:xfrm>
            <a:off x="7909560" y="2816352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29016" y="2743200"/>
            <a:ext cx="2706624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EEF5FF"/>
                </a:solidFill>
                <a:latin typeface="Aptos"/>
              </a:rPr>
              <a:t>Mark before recursion.</a:t>
            </a:r>
          </a:p>
        </p:txBody>
      </p:sp>
      <p:sp>
        <p:nvSpPr>
          <p:cNvPr id="39" name="Oval 38"/>
          <p:cNvSpPr/>
          <p:nvPr/>
        </p:nvSpPr>
        <p:spPr>
          <a:xfrm>
            <a:off x="7909560" y="3419856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29016" y="3346704"/>
            <a:ext cx="2706624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EEF5FF"/>
                </a:solidFill>
                <a:latin typeface="Aptos"/>
              </a:rPr>
              <a:t>Only recurse into unvisited neighbours.</a:t>
            </a:r>
          </a:p>
        </p:txBody>
      </p:sp>
      <p:sp>
        <p:nvSpPr>
          <p:cNvPr id="41" name="Oval 40"/>
          <p:cNvSpPr/>
          <p:nvPr/>
        </p:nvSpPr>
        <p:spPr>
          <a:xfrm>
            <a:off x="7909560" y="4023360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29016" y="3950208"/>
            <a:ext cx="2706624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EEF5FF"/>
                </a:solidFill>
                <a:latin typeface="Aptos"/>
              </a:rPr>
              <a:t>A call returns after scanning all neighbours.</a:t>
            </a:r>
          </a:p>
        </p:txBody>
      </p:sp>
      <p:sp>
        <p:nvSpPr>
          <p:cNvPr id="43" name="Oval 42"/>
          <p:cNvSpPr/>
          <p:nvPr/>
        </p:nvSpPr>
        <p:spPr>
          <a:xfrm>
            <a:off x="7909560" y="4626864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29016" y="4553712"/>
            <a:ext cx="2706624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EEF5FF"/>
                </a:solidFill>
                <a:latin typeface="Aptos"/>
              </a:rPr>
              <a:t>For all components, launch DFS from each still-unvisited vertex.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09 / CODE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C implementation — adjacency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This example is self-contained for the six-node mission graph.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15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1691640"/>
            <a:ext cx="7315200" cy="4617720"/>
          </a:xfrm>
          <a:prstGeom prst="roundRect">
            <a:avLst/>
          </a:prstGeom>
          <a:solidFill>
            <a:srgbClr val="050A1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67512" y="1837944"/>
            <a:ext cx="82296" cy="82296"/>
          </a:xfrm>
          <a:prstGeom prst="ellipse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32103" y="1837944"/>
            <a:ext cx="82296" cy="82296"/>
          </a:xfrm>
          <a:prstGeom prst="ellipse">
            <a:avLst/>
          </a:prstGeom>
          <a:solidFill>
            <a:srgbClr val="FF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96695" y="1837944"/>
            <a:ext cx="82296" cy="82296"/>
          </a:xfrm>
          <a:prstGeom prst="ellipse">
            <a:avLst/>
          </a:prstGeom>
          <a:solidFill>
            <a:srgbClr val="A5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" y="2029968"/>
            <a:ext cx="7040880" cy="4206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#include &lt;stdio.h&gt;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#define N 6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int graph[N][N] = {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// A B C D E F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{0,1,0,1,0,0}, // A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{1,0,1,1,0,0}, // B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{0,1,0,0,1,0}, // C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{1,1,0,0,1,0}, // D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{0,0,1,1,0,1}, // E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{0,0,0,0,1,0}  // F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};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int visited[N] = {0};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void dfs(int u) {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   visited[u] = 1;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   printf("%c ", 'A' + u);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   for (int v = 0; v &lt; N; v++)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       if (graph[u][v] &amp;&amp; !visited[v])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           dfs(v);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}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int main(void) {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   dfs(0);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    return 0;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DDCE6"/>
                </a:solidFill>
                <a:latin typeface="Consolas"/>
              </a:rPr>
              <a:t>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1828800"/>
            <a:ext cx="3337560" cy="333756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66760" y="210312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DDCE6"/>
                </a:solidFill>
                <a:latin typeface="Aptos"/>
              </a:rPr>
              <a:t>EXPECTED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606040"/>
            <a:ext cx="2743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A5FF78"/>
                </a:solidFill>
                <a:latin typeface="Consolas"/>
              </a:rPr>
              <a:t>A B C E F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52044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EEF5FF"/>
                </a:solidFill>
                <a:latin typeface="Aptos"/>
              </a:rPr>
              <a:t>The order follows the matrix's neighbour scan from index 0 to 5.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440680"/>
            <a:ext cx="3017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9BB1CD"/>
                </a:solidFill>
                <a:latin typeface="Consolas"/>
              </a:rPr>
              <a:t>Compile: gcc dfs.c -o dfs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10 / ALTERNATE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Iterative DFS — explicit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Useful when you want to control the stack yourself.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16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1783080"/>
            <a:ext cx="6492240" cy="4251960"/>
          </a:xfrm>
          <a:prstGeom prst="roundRect">
            <a:avLst/>
          </a:prstGeom>
          <a:solidFill>
            <a:srgbClr val="050A1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04671" y="1929384"/>
            <a:ext cx="82296" cy="82296"/>
          </a:xfrm>
          <a:prstGeom prst="ellipse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9263" y="1929384"/>
            <a:ext cx="82296" cy="82296"/>
          </a:xfrm>
          <a:prstGeom prst="ellipse">
            <a:avLst/>
          </a:prstGeom>
          <a:solidFill>
            <a:srgbClr val="FF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33855" y="1929384"/>
            <a:ext cx="82296" cy="82296"/>
          </a:xfrm>
          <a:prstGeom prst="ellipse">
            <a:avLst/>
          </a:prstGeom>
          <a:solidFill>
            <a:srgbClr val="A5F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2121408"/>
            <a:ext cx="6217920" cy="3840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DCE6"/>
                </a:solidFill>
                <a:latin typeface="Consolas"/>
              </a:rPr>
              <a:t>push(start)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DCE6"/>
                </a:solidFill>
                <a:latin typeface="Consolas"/>
              </a:rPr>
              <a:t>while stack is not empty: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DCE6"/>
                </a:solidFill>
                <a:latin typeface="Consolas"/>
              </a:rPr>
              <a:t>    u = pop()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DCE6"/>
                </a:solidFill>
                <a:latin typeface="Consolas"/>
              </a:rPr>
              <a:t>    if visited[u]: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DCE6"/>
                </a:solidFill>
                <a:latin typeface="Consolas"/>
              </a:rPr>
              <a:t>        continue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DCE6"/>
                </a:solidFill>
                <a:latin typeface="Consolas"/>
              </a:rPr>
              <a:t>    visited[u] = true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DCE6"/>
                </a:solidFill>
                <a:latin typeface="Consolas"/>
              </a:rPr>
              <a:t>    output(u)</a:t>
            </a:r>
          </a:p>
          <a:p>
            <a:pPr algn="l">
              <a:spcAft>
                <a:spcPts val="500"/>
              </a:spcAft>
            </a:pPr>
            <a:endParaRPr sz="1400" b="0" i="0">
              <a:solidFill>
                <a:srgbClr val="2DDCE6"/>
              </a:solidFill>
              <a:latin typeface="Consolas"/>
            </a:endParaRP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DCE6"/>
                </a:solidFill>
                <a:latin typeface="Consolas"/>
              </a:rPr>
              <a:t>    for each neighbour v of u: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DCE6"/>
                </a:solidFill>
                <a:latin typeface="Consolas"/>
              </a:rPr>
              <a:t>        if not visited[v]: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DCE6"/>
                </a:solidFill>
                <a:latin typeface="Consolas"/>
              </a:rPr>
              <a:t>            push(v)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1920240"/>
            <a:ext cx="3840480" cy="338328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0" y="2194560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FFB04C"/>
                </a:solidFill>
                <a:latin typeface="Aptos"/>
              </a:rPr>
              <a:t>IMPLEMENTATION NOTE</a:t>
            </a:r>
          </a:p>
        </p:txBody>
      </p:sp>
      <p:sp>
        <p:nvSpPr>
          <p:cNvPr id="37" name="Oval 36"/>
          <p:cNvSpPr/>
          <p:nvPr/>
        </p:nvSpPr>
        <p:spPr>
          <a:xfrm>
            <a:off x="7772400" y="2816352"/>
            <a:ext cx="100584" cy="100584"/>
          </a:xfrm>
          <a:prstGeom prst="ellipse">
            <a:avLst/>
          </a:prstGeom>
          <a:solidFill>
            <a:srgbClr val="FF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91856" y="2743200"/>
            <a:ext cx="2889504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EEF5FF"/>
                </a:solidFill>
                <a:latin typeface="Aptos"/>
              </a:rPr>
              <a:t>Push neighbours in reverse order if you want the same alphabetical visitation tendency as recursive DFS.</a:t>
            </a:r>
          </a:p>
        </p:txBody>
      </p:sp>
      <p:sp>
        <p:nvSpPr>
          <p:cNvPr id="39" name="Oval 38"/>
          <p:cNvSpPr/>
          <p:nvPr/>
        </p:nvSpPr>
        <p:spPr>
          <a:xfrm>
            <a:off x="7772400" y="3566160"/>
            <a:ext cx="100584" cy="100584"/>
          </a:xfrm>
          <a:prstGeom prst="ellipse">
            <a:avLst/>
          </a:prstGeom>
          <a:solidFill>
            <a:srgbClr val="FF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91856" y="3493008"/>
            <a:ext cx="2889504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EEF5FF"/>
                </a:solidFill>
                <a:latin typeface="Aptos"/>
              </a:rPr>
              <a:t>Depending on when visited is marked, duplicate entries may be pushed.</a:t>
            </a:r>
          </a:p>
        </p:txBody>
      </p:sp>
      <p:sp>
        <p:nvSpPr>
          <p:cNvPr id="41" name="Oval 40"/>
          <p:cNvSpPr/>
          <p:nvPr/>
        </p:nvSpPr>
        <p:spPr>
          <a:xfrm>
            <a:off x="7772400" y="4315968"/>
            <a:ext cx="100584" cy="100584"/>
          </a:xfrm>
          <a:prstGeom prst="ellipse">
            <a:avLst/>
          </a:prstGeom>
          <a:solidFill>
            <a:srgbClr val="FF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91856" y="4242816"/>
            <a:ext cx="2889504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EEF5FF"/>
                </a:solidFill>
                <a:latin typeface="Aptos"/>
              </a:rPr>
              <a:t>A stack can replace recursion but the traversal order may differ.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11 / DATA STRUCTURE CHOICE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How the graph is stored changes the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DFS logic is the same; neighbour lookup is not.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17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1828800"/>
            <a:ext cx="5074920" cy="333756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DDCE6"/>
                </a:solidFill>
                <a:latin typeface="Aptos"/>
              </a:rPr>
              <a:t>ADJACENCY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2651760"/>
            <a:ext cx="4297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Consolas"/>
              </a:rPr>
              <a:t>A: B, D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Consolas"/>
              </a:rPr>
              <a:t>B: A, C, D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Consolas"/>
              </a:rPr>
              <a:t>C: B, 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Consolas"/>
              </a:rPr>
              <a:t>D: A, B, 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Consolas"/>
              </a:rPr>
              <a:t>E: C, D, F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Consolas"/>
              </a:rPr>
              <a:t>F: 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66344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A5FF78"/>
                </a:solidFill>
                <a:latin typeface="Aptos"/>
              </a:rPr>
              <a:t>Space: O(V + 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828800"/>
            <a:ext cx="5074920" cy="333756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210312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B587FF"/>
                </a:solidFill>
                <a:latin typeface="Aptos"/>
              </a:rPr>
              <a:t>ADJACENCY MATRIX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651760"/>
            <a:ext cx="4297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Consolas"/>
              </a:rPr>
              <a:t>V × V table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Consolas"/>
              </a:rPr>
              <a:t>matrix[u][v] = 1 if edge exists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66344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B04C"/>
                </a:solidFill>
                <a:latin typeface="Aptos"/>
              </a:rPr>
              <a:t>Space: O(V²)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EF5FF"/>
                </a:solidFill>
                <a:latin typeface="Aptos"/>
              </a:rPr>
              <a:t>For adjacency lists, DFS runs in O(V + E). With a matrix, scanning all V columns per vertex makes it O(V²).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12 / PERFORMANCE TELEMETRY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Time and space complexity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Always state the graph representation and what the space count includes.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18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1828800"/>
            <a:ext cx="3383280" cy="2286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210312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CE6"/>
                </a:solidFill>
                <a:latin typeface="Aptos"/>
              </a:rPr>
              <a:t>ADJACENCY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2697480"/>
            <a:ext cx="2743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EEF5FF"/>
                </a:solidFill>
                <a:latin typeface="Aptos"/>
              </a:rPr>
              <a:t>O(V + 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42900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BB1CD"/>
                </a:solidFill>
                <a:latin typeface="Aptos"/>
              </a:rPr>
              <a:t>Each vertex and edge is processed a constant number of times.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1828800"/>
            <a:ext cx="3383280" cy="2286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B5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63440" y="210312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B587FF"/>
                </a:solidFill>
                <a:latin typeface="Aptos"/>
              </a:rPr>
              <a:t>ADJACENCY MATRIX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697480"/>
            <a:ext cx="2743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EEF5FF"/>
                </a:solidFill>
                <a:latin typeface="Aptos"/>
              </a:rPr>
              <a:t>O(V²)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42900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BB1CD"/>
                </a:solidFill>
                <a:latin typeface="Aptos"/>
              </a:rPr>
              <a:t>Each visited vertex scans a row of V entries.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828800"/>
            <a:ext cx="3383280" cy="228600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A5F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40" y="210312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A5FF78"/>
                </a:solidFill>
                <a:latin typeface="Aptos"/>
              </a:rPr>
              <a:t>AUXILIARY SPACE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697480"/>
            <a:ext cx="2743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EEF5FF"/>
                </a:solidFill>
                <a:latin typeface="Aptos"/>
              </a:rPr>
              <a:t>O(V)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42900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9BB1CD"/>
                </a:solidFill>
                <a:latin typeface="Aptos"/>
              </a:rPr>
              <a:t>Visited array plus worst-case recursion/explicit stack.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92040"/>
            <a:ext cx="10058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EF5FF"/>
                </a:solidFill>
                <a:latin typeface="Aptos"/>
              </a:rPr>
              <a:t>V = number of vertices  •  E = number of edges. Total storage of an adjacency list is O(V + E); matrix storage is O(V²).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13 / CORRECTNESS 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Why does DFS find every reachable vertex?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Proof idea: discovery + neighbour scanning + visited invariant.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19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1828800"/>
            <a:ext cx="10424160" cy="65836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1984248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DDCE6"/>
                </a:solidFill>
                <a:latin typeface="Aptos"/>
              </a:rPr>
              <a:t>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1956816"/>
            <a:ext cx="8229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The start vertex is marked and processed.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2670048"/>
            <a:ext cx="10424160" cy="65836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" y="2825496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B91FF"/>
                </a:solidFill>
                <a:latin typeface="Aptos"/>
              </a:rPr>
              <a:t>STEP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2798064"/>
            <a:ext cx="8229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Whenever u is processed, every neighbour v is checked.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3511296"/>
            <a:ext cx="10424160" cy="65836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B5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3666744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B587FF"/>
                </a:solidFill>
                <a:latin typeface="Aptos"/>
              </a:rPr>
              <a:t>DISCOVERY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3639312"/>
            <a:ext cx="8229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If v is unvisited, DFS(v) is called, so v is explored.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4352544"/>
            <a:ext cx="10424160" cy="658368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A5F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1560" y="4507992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A5FF78"/>
                </a:solidFill>
                <a:latin typeface="Aptos"/>
              </a:rPr>
              <a:t>TERMINATION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4480559"/>
            <a:ext cx="8229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Each vertex is marked once; revisits are skipped.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23560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A5FF78"/>
                </a:solidFill>
                <a:latin typeface="Aptos"/>
              </a:rPr>
              <a:t>Conclusion: DFS visits every vertex reachable from the start, assuming the graph representation is correct.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14 / EDGE-CASE SCANNER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DFS beyond the simple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The real implementation must account for graph shape and requirements.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20 / 24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1901952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2416" y="1828800"/>
            <a:ext cx="10113264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Disconnected graph: one DFS(start) covers only its connected component; loop over all vertices to cover all components.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2532888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2416" y="2459736"/>
            <a:ext cx="10113264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Cycles: visited[] prevents infinite revisits.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3163824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2416" y="3090672"/>
            <a:ext cx="10113264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Directed graph: follow outgoing edges only; reachability is directional.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3794760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2416" y="3721608"/>
            <a:ext cx="10113264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Self-loop: the node is already visited, so do not recurse again.</a:t>
            </a:r>
          </a:p>
        </p:txBody>
      </p:sp>
      <p:sp>
        <p:nvSpPr>
          <p:cNvPr id="38" name="Oval 37"/>
          <p:cNvSpPr/>
          <p:nvPr/>
        </p:nvSpPr>
        <p:spPr>
          <a:xfrm>
            <a:off x="822960" y="4425696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2416" y="4352544"/>
            <a:ext cx="10113264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Empty graph / invalid start: validate input before calling DFS.</a:t>
            </a:r>
          </a:p>
        </p:txBody>
      </p:sp>
      <p:sp>
        <p:nvSpPr>
          <p:cNvPr id="40" name="Oval 39"/>
          <p:cNvSpPr/>
          <p:nvPr/>
        </p:nvSpPr>
        <p:spPr>
          <a:xfrm>
            <a:off x="822960" y="5056631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2416" y="4983479"/>
            <a:ext cx="10113264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EF5FF"/>
                </a:solidFill>
                <a:latin typeface="Aptos"/>
              </a:rPr>
              <a:t>Large graph: recursive DFS may overflow the call stack; consider iterative DFS.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5715000"/>
            <a:ext cx="10241280" cy="438912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FFB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1560" y="5797296"/>
            <a:ext cx="9875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B04C"/>
                </a:solidFill>
                <a:latin typeface="Aptos"/>
              </a:rPr>
              <a:t>Production habit: define whether you need one component, all components, or a directed reachability search.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15 / STRATEGY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DFS vs BFS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Same graph, different exploration policy.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21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1828800"/>
            <a:ext cx="5074920" cy="338328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210312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2DDCE6"/>
                </a:solidFill>
                <a:latin typeface="Aptos"/>
              </a:rPr>
              <a:t>DFS</a:t>
            </a:r>
          </a:p>
        </p:txBody>
      </p:sp>
      <p:sp>
        <p:nvSpPr>
          <p:cNvPr id="32" name="Oval 31"/>
          <p:cNvSpPr/>
          <p:nvPr/>
        </p:nvSpPr>
        <p:spPr>
          <a:xfrm>
            <a:off x="1005840" y="2724912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25296" y="2651760"/>
            <a:ext cx="4078224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Uses a stack / recursion</a:t>
            </a:r>
          </a:p>
        </p:txBody>
      </p:sp>
      <p:sp>
        <p:nvSpPr>
          <p:cNvPr id="34" name="Oval 33"/>
          <p:cNvSpPr/>
          <p:nvPr/>
        </p:nvSpPr>
        <p:spPr>
          <a:xfrm>
            <a:off x="1005840" y="3300984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25296" y="3227832"/>
            <a:ext cx="4078224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Explores deeply before backtracking</a:t>
            </a:r>
          </a:p>
        </p:txBody>
      </p:sp>
      <p:sp>
        <p:nvSpPr>
          <p:cNvPr id="36" name="Oval 35"/>
          <p:cNvSpPr/>
          <p:nvPr/>
        </p:nvSpPr>
        <p:spPr>
          <a:xfrm>
            <a:off x="1005840" y="3877056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25296" y="3803904"/>
            <a:ext cx="4078224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Useful for cycle detection, components, topological sorting</a:t>
            </a:r>
          </a:p>
        </p:txBody>
      </p:sp>
      <p:sp>
        <p:nvSpPr>
          <p:cNvPr id="38" name="Oval 37"/>
          <p:cNvSpPr/>
          <p:nvPr/>
        </p:nvSpPr>
        <p:spPr>
          <a:xfrm>
            <a:off x="1005840" y="4453128"/>
            <a:ext cx="100584" cy="100584"/>
          </a:xfrm>
          <a:prstGeom prst="ellipse">
            <a:avLst/>
          </a:prstGeom>
          <a:solidFill>
            <a:srgbClr val="2D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25296" y="4379976"/>
            <a:ext cx="4078224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Does not guarantee shortest path in an unweighted graph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1828800"/>
            <a:ext cx="5074920" cy="3383280"/>
          </a:xfrm>
          <a:prstGeom prst="roundRect">
            <a:avLst/>
          </a:prstGeom>
          <a:solidFill>
            <a:srgbClr val="0F1B31"/>
          </a:solidFill>
          <a:ln w="1270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210312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B587FF"/>
                </a:solidFill>
                <a:latin typeface="Aptos"/>
              </a:rPr>
              <a:t>BFS</a:t>
            </a:r>
          </a:p>
        </p:txBody>
      </p:sp>
      <p:sp>
        <p:nvSpPr>
          <p:cNvPr id="42" name="Oval 41"/>
          <p:cNvSpPr/>
          <p:nvPr/>
        </p:nvSpPr>
        <p:spPr>
          <a:xfrm>
            <a:off x="6492240" y="2724912"/>
            <a:ext cx="100584" cy="100584"/>
          </a:xfrm>
          <a:prstGeom prst="ellipse">
            <a:avLst/>
          </a:prstGeom>
          <a:solidFill>
            <a:srgbClr val="B5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11696" y="2651760"/>
            <a:ext cx="4078224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Uses a queue</a:t>
            </a:r>
          </a:p>
        </p:txBody>
      </p:sp>
      <p:sp>
        <p:nvSpPr>
          <p:cNvPr id="44" name="Oval 43"/>
          <p:cNvSpPr/>
          <p:nvPr/>
        </p:nvSpPr>
        <p:spPr>
          <a:xfrm>
            <a:off x="6492240" y="3300984"/>
            <a:ext cx="100584" cy="100584"/>
          </a:xfrm>
          <a:prstGeom prst="ellipse">
            <a:avLst/>
          </a:prstGeom>
          <a:solidFill>
            <a:srgbClr val="B5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11696" y="3227832"/>
            <a:ext cx="4078224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Explores level by level</a:t>
            </a:r>
          </a:p>
        </p:txBody>
      </p:sp>
      <p:sp>
        <p:nvSpPr>
          <p:cNvPr id="46" name="Oval 45"/>
          <p:cNvSpPr/>
          <p:nvPr/>
        </p:nvSpPr>
        <p:spPr>
          <a:xfrm>
            <a:off x="6492240" y="3877056"/>
            <a:ext cx="100584" cy="100584"/>
          </a:xfrm>
          <a:prstGeom prst="ellipse">
            <a:avLst/>
          </a:prstGeom>
          <a:solidFill>
            <a:srgbClr val="B5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11696" y="3803904"/>
            <a:ext cx="4078224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Finds shortest path in an unweighted graph</a:t>
            </a:r>
          </a:p>
        </p:txBody>
      </p:sp>
      <p:sp>
        <p:nvSpPr>
          <p:cNvPr id="48" name="Oval 47"/>
          <p:cNvSpPr/>
          <p:nvPr/>
        </p:nvSpPr>
        <p:spPr>
          <a:xfrm>
            <a:off x="6492240" y="4453128"/>
            <a:ext cx="100584" cy="100584"/>
          </a:xfrm>
          <a:prstGeom prst="ellipse">
            <a:avLst/>
          </a:prstGeom>
          <a:solidFill>
            <a:srgbClr val="B5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11696" y="4379976"/>
            <a:ext cx="4078224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EF5FF"/>
                </a:solidFill>
                <a:latin typeface="Aptos"/>
              </a:rPr>
              <a:t>May hold a wide frontier in memory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A5FF78"/>
                </a:solidFill>
                <a:latin typeface="Aptos"/>
              </a:rPr>
              <a:t>Memory hook: DFS = Stack + Depth. BFS = Queue + Breadth.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320040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CE6"/>
                </a:solidFill>
                <a:latin typeface="Aptos"/>
              </a:rPr>
              <a:t>16 / FIELD DEPLOYMENTS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EEF5FF"/>
                </a:solidFill>
                <a:latin typeface="Aptos"/>
              </a:rPr>
              <a:t>Where DFS is used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1207008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9BB1CD"/>
                </a:solidFill>
                <a:latin typeface="Aptos"/>
              </a:rPr>
              <a:t>DFS is a general exploration primitive, not just an exam algorithm.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29184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9BB1CD"/>
                </a:solidFill>
                <a:latin typeface="Aptos"/>
              </a:rPr>
              <a:t>FILE // 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7863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9BB1CD"/>
                </a:solidFill>
                <a:latin typeface="Aptos"/>
              </a:rPr>
              <a:t>DFS MISSION CONTROL  •  Generated using ChatGPT (OpenAI)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1052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2DDCE6"/>
                </a:solidFill>
                <a:latin typeface="Aptos"/>
              </a:rPr>
              <a:t>22 / 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1828800"/>
            <a:ext cx="3474720" cy="141732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196596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CE6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2304288"/>
            <a:ext cx="3063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EF5FF"/>
                </a:solidFill>
                <a:latin typeface="Aptos"/>
              </a:rPr>
              <a:t>MAZE SOLVING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26517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9BB1CD"/>
                </a:solidFill>
                <a:latin typeface="Aptos"/>
              </a:rPr>
              <a:t>Explore corridors and backtrack from dead ends.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1828800"/>
            <a:ext cx="3474720" cy="141732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90872" y="196596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CE6"/>
                </a:solidFill>
                <a:latin typeface="Apto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0872" y="2304288"/>
            <a:ext cx="3063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EF5FF"/>
                </a:solidFill>
                <a:latin typeface="Aptos"/>
              </a:rPr>
              <a:t>CYCLE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0872" y="26517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9BB1CD"/>
                </a:solidFill>
                <a:latin typeface="Aptos"/>
              </a:rPr>
              <a:t>Track active/visited states to detect cycles.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1828800"/>
            <a:ext cx="3474720" cy="141732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B5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31352" y="196596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CE6"/>
                </a:solidFill>
                <a:latin typeface="Aptos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1352" y="2304288"/>
            <a:ext cx="3063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EF5FF"/>
                </a:solidFill>
                <a:latin typeface="Aptos"/>
              </a:rPr>
              <a:t>TOPOLOGICAL SORT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352" y="26517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9BB1CD"/>
                </a:solidFill>
                <a:latin typeface="Aptos"/>
              </a:rPr>
              <a:t>Use finishing order on a directed acyclic graph.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657600"/>
            <a:ext cx="3474720" cy="141732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A5F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" y="379476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CE6"/>
                </a:solidFill>
                <a:latin typeface="Apto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" y="4133087"/>
            <a:ext cx="3063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EF5FF"/>
                </a:solidFill>
                <a:latin typeface="Aptos"/>
              </a:rPr>
              <a:t>CONNECTED COMPONENTS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" y="44805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9BB1CD"/>
                </a:solidFill>
                <a:latin typeface="Aptos"/>
              </a:rPr>
              <a:t>Group mutually reachable vertices in an undirected graph.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26280" y="3657600"/>
            <a:ext cx="3474720" cy="141732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FFB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90872" y="379476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CE6"/>
                </a:solidFill>
                <a:latin typeface="Aptos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90872" y="4133087"/>
            <a:ext cx="3063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EF5FF"/>
                </a:solidFill>
                <a:latin typeface="Aptos"/>
              </a:rPr>
              <a:t>PATH / STATE 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90872" y="44805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9BB1CD"/>
                </a:solidFill>
                <a:latin typeface="Aptos"/>
              </a:rPr>
              <a:t>Explore game states, configuration spaces, and dependencies.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66760" y="3657600"/>
            <a:ext cx="3474720" cy="1417320"/>
          </a:xfrm>
          <a:prstGeom prst="roundRect">
            <a:avLst/>
          </a:prstGeom>
          <a:solidFill>
            <a:srgbClr val="142641"/>
          </a:solidFill>
          <a:ln w="12700">
            <a:solidFill>
              <a:srgbClr val="2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31352" y="379476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CE6"/>
                </a:solidFill>
                <a:latin typeface="Aptos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31352" y="4133087"/>
            <a:ext cx="3063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EF5FF"/>
                </a:solidFill>
                <a:latin typeface="Aptos"/>
              </a:rPr>
              <a:t>FLOOD FILL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31352" y="448056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9BB1CD"/>
                </a:solidFill>
                <a:latin typeface="Aptos"/>
              </a:rPr>
              <a:t>Visit connected cells in grids and image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2278</Words>
  <Application>Microsoft Office PowerPoint</Application>
  <PresentationFormat>Widescreen</PresentationFormat>
  <Paragraphs>423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Vishal Gupta</dc:creator>
  <cp:keywords/>
  <dc:description>generated using python-pptx</dc:description>
  <cp:lastModifiedBy>Vishal Gupta</cp:lastModifiedBy>
  <cp:revision>2</cp:revision>
  <dcterms:created xsi:type="dcterms:W3CDTF">2013-01-27T09:14:16Z</dcterms:created>
  <dcterms:modified xsi:type="dcterms:W3CDTF">2026-10-20T08:22:57Z</dcterms:modified>
  <cp:category/>
</cp:coreProperties>
</file>